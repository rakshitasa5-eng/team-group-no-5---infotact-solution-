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MRR by Plan Tier (USD)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(USD)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62A-483A-B385-784F3A0D4E45}"/>
              </c:ext>
            </c:extLst>
          </c:dPt>
          <c:dPt>
            <c:idx val="1"/>
            <c:invertIfNegative val="0"/>
            <c:bubble3D val="0"/>
            <c:spPr>
              <a:solidFill>
                <a:srgbClr val="3A4F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2A-483A-B385-784F3A0D4E45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2A-483A-B385-784F3A0D4E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Pro</c:v>
                </c:pt>
                <c:pt idx="2">
                  <c:v>Enterprise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760437</c:v>
                </c:pt>
                <c:pt idx="1">
                  <c:v>2105089</c:v>
                </c:pt>
                <c:pt idx="2">
                  <c:v>8473221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62A-483A-B385-784F3A0D4E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CLTV (USD)</c:v>
                </c:pt>
              </c:strCache>
            </c:strRef>
          </c:tx>
          <c:spPr>
            <a:solidFill>
              <a:srgbClr val="E8ECF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EC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60-44C7-B3B7-A7CA0AF84909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60-44C7-B3B7-A7CA0AF84909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60-44C7-B3B7-A7CA0AF84909}"/>
              </c:ext>
            </c:extLst>
          </c:dPt>
          <c:dPt>
            <c:idx val="3"/>
            <c:invertIfNegative val="0"/>
            <c:bubble3D val="0"/>
            <c:spPr>
              <a:solidFill>
                <a:srgbClr val="3A4F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60-44C7-B3B7-A7CA0AF84909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860-44C7-B3B7-A7CA0AF8490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Event</c:v>
                </c:pt>
                <c:pt idx="1">
                  <c:v>Ads</c:v>
                </c:pt>
                <c:pt idx="2">
                  <c:v>Other</c:v>
                </c:pt>
                <c:pt idx="3">
                  <c:v>Organic</c:v>
                </c:pt>
                <c:pt idx="4">
                  <c:v>Partner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429866</c:v>
                </c:pt>
                <c:pt idx="1">
                  <c:v>480343</c:v>
                </c:pt>
                <c:pt idx="2">
                  <c:v>500759</c:v>
                </c:pt>
                <c:pt idx="3">
                  <c:v>513006</c:v>
                </c:pt>
                <c:pt idx="4">
                  <c:v>521808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860-44C7-B3B7-A7CA0AF849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Arial"/>
              </a:rPr>
              <a:t>Avg Resolution Time by Priority (hrs)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Resolution (hrs)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C79-4681-A03E-D0BACC6B539D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79-4681-A03E-D0BACC6B539D}"/>
              </c:ext>
            </c:extLst>
          </c:dPt>
          <c:dPt>
            <c:idx val="2"/>
            <c:invertIfNegative val="0"/>
            <c:bubble3D val="0"/>
            <c:spPr>
              <a:solidFill>
                <a:srgbClr val="3A4F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C79-4681-A03E-D0BACC6B539D}"/>
              </c:ext>
            </c:extLst>
          </c:dPt>
          <c:dPt>
            <c:idx val="3"/>
            <c:invertIfNegative val="0"/>
            <c:bubble3D val="0"/>
            <c:spPr>
              <a:solidFill>
                <a:srgbClr val="E8EC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C79-4681-A03E-D0BACC6B539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Urgent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34.57</c:v>
                </c:pt>
                <c:pt idx="1">
                  <c:v>36.96</c:v>
                </c:pt>
                <c:pt idx="2">
                  <c:v>35.590000000000003</c:v>
                </c:pt>
                <c:pt idx="3">
                  <c:v>36.35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C79-4681-A03E-D0BACC6B53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761"/>
                </a:solidFill>
                <a:latin typeface="Arial"/>
              </a:rPr>
              <a:t>Ticket Volume by Priority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Count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36-452F-9877-3EAC267F6907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36-452F-9877-3EAC267F6907}"/>
              </c:ext>
            </c:extLst>
          </c:dPt>
          <c:dPt>
            <c:idx val="2"/>
            <c:invertIfNegative val="0"/>
            <c:bubble3D val="0"/>
            <c:spPr>
              <a:solidFill>
                <a:srgbClr val="3A4F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36-452F-9877-3EAC267F6907}"/>
              </c:ext>
            </c:extLst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E36-452F-9877-3EAC267F69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Urgent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514</c:v>
                </c:pt>
                <c:pt idx="1">
                  <c:v>510</c:v>
                </c:pt>
                <c:pt idx="2">
                  <c:v>491</c:v>
                </c:pt>
                <c:pt idx="3">
                  <c:v>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36-452F-9877-3EAC267F69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Arial"/>
              </a:rPr>
              <a:t>Churn by Reason Code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Events</c:v>
                </c:pt>
              </c:strCache>
            </c:strRef>
          </c:tx>
          <c:spPr>
            <a:solidFill>
              <a:srgbClr val="E8ECF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8C-44A9-8D40-154EC7406CE3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8C-44A9-8D40-154EC7406CE3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8C-44A9-8D40-154EC7406CE3}"/>
              </c:ext>
            </c:extLst>
          </c:dPt>
          <c:dPt>
            <c:idx val="3"/>
            <c:invertIfNegative val="0"/>
            <c:bubble3D val="0"/>
            <c:spPr>
              <a:solidFill>
                <a:srgbClr val="3A4F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8C-44A9-8D40-154EC7406CE3}"/>
              </c:ext>
            </c:extLst>
          </c:dPt>
          <c:dPt>
            <c:idx val="4"/>
            <c:invertIfNegative val="0"/>
            <c:bubble3D val="0"/>
            <c:spPr>
              <a:solidFill>
                <a:srgbClr val="E0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D8C-44A9-8D40-154EC7406CE3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D8C-44A9-8D40-154EC7406CE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Unknown</c:v>
                </c:pt>
                <c:pt idx="1">
                  <c:v>Competitor</c:v>
                </c:pt>
                <c:pt idx="2">
                  <c:v>Pricing</c:v>
                </c:pt>
                <c:pt idx="3">
                  <c:v>Budget</c:v>
                </c:pt>
                <c:pt idx="4">
                  <c:v>Support</c:v>
                </c:pt>
                <c:pt idx="5">
                  <c:v>Features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92</c:v>
                </c:pt>
                <c:pt idx="2">
                  <c:v>91</c:v>
                </c:pt>
                <c:pt idx="3">
                  <c:v>104</c:v>
                </c:pt>
                <c:pt idx="4">
                  <c:v>104</c:v>
                </c:pt>
                <c:pt idx="5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D8C-44A9-8D40-154EC7406C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98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D1640"/>
          </a:solidFill>
          <a:ln w="12700">
            <a:solidFill>
              <a:srgbClr val="0D1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6446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SaaS Analytics — Full Project Findings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500 accounts  •  5,000 subscriptions  •  2,000 support tickets  •  600 churn events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" y="56051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1-4  •  Cohort Retention &amp; CLTV 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79" y="6309360"/>
            <a:ext cx="644250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Satyanarayan Baral  |  Data Analytics Intern at Infotact Solutions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25603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KEY</a:t>
            </a:r>
            <a:endParaRPr lang="en-US" sz="2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37490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Acquisition strategy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0" y="42519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Retention &amp; upsell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47548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operations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525780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protection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A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Analysed — and Why It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81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417320"/>
            <a:ext cx="26060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581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26060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581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55080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81160" y="1417320"/>
            <a:ext cx="26060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1581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81160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Events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2606040" cy="2743200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788920"/>
            <a:ext cx="2606040" cy="475488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834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Data Cleaning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3375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and cleaned all 5 dataset files. Found missing headers, embedded \r characters, and reordered columns in the export.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2788920"/>
            <a:ext cx="2606040" cy="2743200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2788920"/>
            <a:ext cx="2606040" cy="475488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2834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Cohort Retention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33375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24-cohort retention matrix. Tracked how many customers remained active month by month after their first subscription.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2788920"/>
            <a:ext cx="2606040" cy="2743200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788920"/>
            <a:ext cx="2606040" cy="475488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2834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CLTV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3375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lifetime value by channel and plan tier using the AOV × Frequency × Lifespan formula across 5,000 subscription records.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81160" y="2788920"/>
            <a:ext cx="2606040" cy="2743200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81160" y="2788920"/>
            <a:ext cx="2606040" cy="475488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90888" y="2834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Dashboard &amp; Story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18320" y="33375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Power BI Support Analytics Dashboard and combined all four weeks' findings into actionable business recommendations.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A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SNAPSHOT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Actually Comes From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204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819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$11.3M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0391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 (all subscriptions)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520440" cy="1051560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5819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$2,268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89120" y="20391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MRR per subscription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1417320"/>
            <a:ext cx="3520440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5819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74.7%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75320" y="20391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from Enterprise tier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02920" y="2788920"/>
          <a:ext cx="53035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6172200" y="2788920"/>
            <a:ext cx="5532120" cy="2971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0175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Enterprise Dependency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0800" y="352044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accounts represent only a fraction of total customers but generate 74.7% of all MRR. This concentration is both an opportunity and a risk.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Enterprise retention slips even slightly, the revenue impact is outsized compared to losing the same proportion of Basic or Pro customers.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A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ANALYSIS — ACQUISITION CHANNEL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Channel Delivers the Highest Lifetime Value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17320"/>
          <a:ext cx="67665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17320"/>
            <a:ext cx="41605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0" y="1490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$521,808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99248" y="1801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retention: ~22 months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2258568"/>
            <a:ext cx="4160520" cy="749808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99248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0" y="2331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$513,006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99248" y="2642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purchase frequency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43800" y="3099816"/>
            <a:ext cx="4160520" cy="749808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99248" y="3172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0" y="3172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$500,759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99248" y="3483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mid-tier performer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43800" y="3941064"/>
            <a:ext cx="4160520" cy="749808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99248" y="4014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01200" y="40142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$480,343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99248" y="4325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freq, mid retention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543800" y="4782312"/>
            <a:ext cx="4160520" cy="749808"/>
          </a:xfrm>
          <a:prstGeom prst="rect">
            <a:avLst/>
          </a:prstGeom>
          <a:solidFill>
            <a:srgbClr val="E05252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99248" y="48554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01200" y="48554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$429,866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699248" y="5166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— shortest lifespan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A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ANALYSIS — PLAN TIER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is Worth 11x a Basic Customer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66160" cy="4114800"/>
          </a:xfrm>
          <a:prstGeom prst="rect">
            <a:avLst/>
          </a:prstGeom>
          <a:solidFill>
            <a:srgbClr val="E8ECF4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176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$34,547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68680" y="3200400"/>
            <a:ext cx="28346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10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MRR: $474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630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lifespan: 21.6 mo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566160" cy="4114800"/>
          </a:xfrm>
          <a:prstGeom prst="rect">
            <a:avLst/>
          </a:prstGeom>
          <a:solidFill>
            <a:srgbClr val="3A4F9B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89120" y="2176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242316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$95,835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4754880" y="3200400"/>
            <a:ext cx="283464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3310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MRR: $1,257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0" y="3630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lifespan: 21.4 mo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75320" y="1417320"/>
            <a:ext cx="356616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75320" y="2176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75320" y="242316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$379,029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8641080" y="3200400"/>
            <a:ext cx="283464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3310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MRR: $4,918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75320" y="3630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lifespan: 21.3 mo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5687568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lifespan barely differs across tiers (~21 months for all three). The 11x CLTV gap is almost entirely driven by MRR — not retention. Tier upgrades matter far more to revenue than retention improvements do.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A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Quality Needs Immediate Attention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9144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81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35.9 hrs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417320"/>
            <a:ext cx="26060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581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88.5 min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first response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2606040" cy="9144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581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2.34 / 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55080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 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81160" y="1417320"/>
            <a:ext cx="2606040" cy="914400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1581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81160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 analysed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" y="2606040"/>
          <a:ext cx="50292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/>
        </p:nvGraphicFramePr>
        <p:xfrm>
          <a:off x="5806440" y="2606040"/>
          <a:ext cx="59436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 14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A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 — SUPPORT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 — SUPPORT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Urgent tickets resolve no faster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low-priority ones.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5303520" cy="10972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834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Urgent: 34.57 hrs  vs  Low: 36.35 hrs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27355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1.8-hour difference — statistically negligible.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023360"/>
            <a:ext cx="5303520" cy="1371600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1148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507992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raising urgent tickets — likely high-value Enterprise accounts — are waiting almost as long as someone who filed a low-priority query. A satisfaction score of 2.34/5 reflects this directly.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46520" y="2743200"/>
            <a:ext cx="5257800" cy="2743200"/>
          </a:xfrm>
          <a:prstGeom prst="rect">
            <a:avLst/>
          </a:prstGeom>
          <a:solidFill>
            <a:srgbClr val="0D1640"/>
          </a:solidFill>
          <a:ln w="12700">
            <a:solidFill>
              <a:srgbClr val="0D16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8346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by priority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3291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0" y="3291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2.33/5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29400" y="3630168"/>
            <a:ext cx="4846320" cy="0"/>
          </a:xfrm>
          <a:prstGeom prst="line">
            <a:avLst/>
          </a:prstGeom>
          <a:noFill/>
          <a:ln w="6350">
            <a:solidFill>
              <a:srgbClr val="2A38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8039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0" y="38039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2.31/5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29400" y="4142232"/>
            <a:ext cx="4846320" cy="0"/>
          </a:xfrm>
          <a:prstGeom prst="line">
            <a:avLst/>
          </a:prstGeom>
          <a:noFill/>
          <a:ln w="6350">
            <a:solidFill>
              <a:srgbClr val="2A38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4315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0" y="43159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2.34/5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29400" y="4654296"/>
            <a:ext cx="4846320" cy="0"/>
          </a:xfrm>
          <a:prstGeom prst="line">
            <a:avLst/>
          </a:prstGeom>
          <a:noFill/>
          <a:ln w="6350">
            <a:solidFill>
              <a:srgbClr val="2A38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828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0" y="48280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2.38/5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629400" y="5166360"/>
            <a:ext cx="4846320" cy="0"/>
          </a:xfrm>
          <a:prstGeom prst="line">
            <a:avLst/>
          </a:prstGeom>
          <a:noFill/>
          <a:ln w="6350">
            <a:solidFill>
              <a:srgbClr val="2A38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A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Customers Left — Here's Why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17320"/>
          <a:ext cx="6217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417320"/>
            <a:ext cx="4663440" cy="1965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23760" y="15544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223760" y="1938528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(114) and Support/Budget (104 each) are the top reasons customers leave. Combined, these three categories account for 53.7% of all churn.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40880" y="3566160"/>
            <a:ext cx="4663440" cy="1965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0" y="37033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 Connection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4087368"/>
            <a:ext cx="429768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customers cited support as their reason for leaving. Combined with the 2.34/5 satisfaction score from the ticket analysis, this is the same problem appearing twice in two separate datasets.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A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Behaviour Across 24 Monthly Cohorts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132320" cy="4114800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 Heatmap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(Generated in Week 2 — 24 acquisition months × retention periods)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12344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331720"/>
            <a:ext cx="1234440" cy="365760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331720"/>
            <a:ext cx="123444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331720"/>
            <a:ext cx="1234440" cy="3657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331720"/>
            <a:ext cx="123444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889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retention →  Low retention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6400800" cy="0"/>
          </a:xfrm>
          <a:prstGeom prst="line">
            <a:avLst/>
          </a:prstGeom>
          <a:noFill/>
          <a:ln w="6350">
            <a:solidFill>
              <a:srgbClr val="E8EC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91840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Month 0 retention is consistently strong across all 24 cohorts — baseline validation passed.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822192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Steepest decline is observed in Month 1 and Month 2, regardless of the acquisition cohort.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352544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Retention stabilises after Month 3, suggesting customers who make it past that point are far less likely to leave.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882896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single cohort month outperforms others significantly, indicating the product-level drop-off is consistent.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09560" y="1417320"/>
            <a:ext cx="379476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16002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Critical Window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2440" y="202996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 — Month 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92440" y="2651760"/>
            <a:ext cx="3429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when the most customers leave. Any intervention programme — onboarding emails, check-in calls, feature walkthroughs — must be timed to hit before Month 1, not after.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92440" y="4343400"/>
            <a:ext cx="3429000" cy="0"/>
          </a:xfrm>
          <a:prstGeom prst="line">
            <a:avLst/>
          </a:prstGeom>
          <a:noFill/>
          <a:ln w="6350">
            <a:solidFill>
              <a:srgbClr val="3A4F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44805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survive past Month 3 show significantly higher lifetime value — protecting this window directly protects CLTV.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Acquisition Budget Toward the Partner Channel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7315200" cy="3840480"/>
          </a:xfrm>
          <a:prstGeom prst="rect">
            <a:avLst/>
          </a:prstGeom>
          <a:solidFill>
            <a:srgbClr val="0D1640"/>
          </a:solidFill>
          <a:ln w="12700">
            <a:solidFill>
              <a:srgbClr val="0D1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7627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Partner channel produces the highest CLTV of any acquisition source: $521,808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79806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This is not because partner customers pay more per month — organic has a higher AOV ($2,392 vs $2,364)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41985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Partner customers simply stay longer: ~22 months on average vs 20.7 months for organic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404164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gap between partner ($521K) and event ($430K) is $91,000 per customer — nearly a 21% CLTV premium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4663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 dollar spent acquiring a partner customer produces measurably more revenue over their lifetime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1508760"/>
            <a:ext cx="3657600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$521,808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92440" y="2029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CLTV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2743200"/>
            <a:ext cx="3657600" cy="2606040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880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3273552"/>
            <a:ext cx="329184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current acquisition budget allocation. If event or ads channels consume budget disproportionate to their CLTV, reallocate toward partner referral development — co-marketing, affiliate programmes, or partnership incentives.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A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Aggressive Pro-to-Enterprise Upsell Programme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468880" cy="1371600"/>
          </a:xfrm>
          <a:prstGeom prst="rect">
            <a:avLst/>
          </a:prstGeom>
          <a:solidFill>
            <a:srgbClr val="E8ECF4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$34,547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$475/mo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468880" cy="1371600"/>
          </a:xfrm>
          <a:prstGeom prst="rect">
            <a:avLst/>
          </a:prstGeom>
          <a:solidFill>
            <a:srgbClr val="3A4F9B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08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$95,835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2331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$1,257/mo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24688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508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220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$379,029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200" y="2331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$4,918/mo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23960" y="1719072"/>
            <a:ext cx="1828800" cy="777240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171907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+$283K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D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uplift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0" y="25786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customer, moving from Pro to Enterprise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11201400" cy="713232"/>
          </a:xfrm>
          <a:prstGeom prst="rect">
            <a:avLst/>
          </a:prstGeom>
          <a:solidFill>
            <a:srgbClr val="F4F6FB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363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71800" y="31363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 is nearly identical across all tiers (~21 months). Retention improvements will not close the CLTV gap between tiers.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886200"/>
            <a:ext cx="11201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5935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the gap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71800" y="395935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MRR. Enterprise pays $4,918/month vs $1,257 for Pro. Moving one Pro customer to Enterprise adds $283,000 in projected CLTV.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709160"/>
            <a:ext cx="11201400" cy="713232"/>
          </a:xfrm>
          <a:prstGeom prst="rect">
            <a:avLst/>
          </a:prstGeom>
          <a:solidFill>
            <a:srgbClr val="F4F6FB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8231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71800" y="478231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 customer who upgrades immediately becomes 4x more valuable. A conversion rate of even 5% of Pro accounts would have a material revenue impact.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532120"/>
            <a:ext cx="11201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60527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971800" y="560527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 accounts with the highest seat counts and usage frequency. Offer a guided trial of Enterprise features with a time-limited discount. Target the ones already using at capacity.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A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Priority-Based SLAs in Support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858000" cy="4160520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no meaningful SLA differentiation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29968"/>
            <a:ext cx="6492240" cy="438912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1031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86200" y="21031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40680" y="21031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532888"/>
            <a:ext cx="6492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060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31720" y="26060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86200" y="26060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34.57 hrs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40680" y="26060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2.33/5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035808"/>
            <a:ext cx="6492240" cy="438912"/>
          </a:xfrm>
          <a:prstGeom prst="rect">
            <a:avLst/>
          </a:prstGeom>
          <a:solidFill>
            <a:srgbClr val="F4F6FB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89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31720" y="31089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86200" y="31089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36.96 hrs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40680" y="31089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2.31/5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538728"/>
            <a:ext cx="6492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61188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31720" y="361188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86200" y="361188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35.59 hrs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40680" y="361188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2.34/5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4041648"/>
            <a:ext cx="6492240" cy="438912"/>
          </a:xfrm>
          <a:prstGeom prst="rect">
            <a:avLst/>
          </a:prstGeom>
          <a:solidFill>
            <a:srgbClr val="F4F6FB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1148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331720" y="41148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86200" y="41148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36.35 hrs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40680" y="41148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2.38/5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4617720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tickets take LESS time than high-priority ones — but the difference is only 2.4 hours. No meaningful SLA exists.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35240" y="1417320"/>
            <a:ext cx="4069080" cy="4160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15544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SLA targets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818120" y="2029968"/>
            <a:ext cx="3520440" cy="658368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2075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hrs first response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55280" y="25054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 hrs resolution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18120" y="2807208"/>
            <a:ext cx="3520440" cy="658368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28529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3108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hrs first response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955280" y="32826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16 hrs resolution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18120" y="3584448"/>
            <a:ext cx="3520440" cy="658368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3630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55280" y="3886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 hrs first response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55280" y="405993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36 hrs resolution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818120" y="4361688"/>
            <a:ext cx="3520440" cy="658368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55280" y="4407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55280" y="4663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 hrs first response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55280" y="48371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72 hrs resolution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818120" y="52303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avg: 88.5 min first response → target: priority-gated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A4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 Churn Before It Happens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2331720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799" y="1527048"/>
            <a:ext cx="78205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Month-1 Onboarding Sequence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41448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 data shows Month 1-2 is where customers leave most. An automated email sequence (feature walkthroughs, success check-ins) timed to hit before Month 1 is the highest-impact single intervention available.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5577840" cy="2331720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4023360"/>
            <a:ext cx="73152" cy="2331720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13308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4F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" y="457200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Features Before Pricing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047488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customers cited features as the reason they left — the single highest churn reason. Before cutting prices to retain customers, invest in the feature gaps that are actually driving departures.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5577840" cy="2331720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17320"/>
            <a:ext cx="73152" cy="2331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527048"/>
            <a:ext cx="550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Support Tickets as an Early-Warning Signal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441448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customers left citing support issues. Accounts with repeated escalations or low satisfaction scores should trigger a proactive outreach from Customer Success, not just wait for them to cancel.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577840" cy="2331720"/>
          </a:xfrm>
          <a:prstGeom prst="rect">
            <a:avLst/>
          </a:prstGeom>
          <a:solidFill>
            <a:srgbClr val="F4F6FB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4023360"/>
            <a:ext cx="73152" cy="233172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39" y="4133088"/>
            <a:ext cx="66253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457200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High-Value 167 Accounts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5047488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top-third CLTV segment (167 accounts) carries a disproportionate share of total MRR. These accounts need a dedicated retention track — proactive reviews, executive sponsorship, priority support routing.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Recommendations, One Direction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201400" cy="1024128"/>
          </a:xfrm>
          <a:prstGeom prst="rect">
            <a:avLst/>
          </a:prstGeom>
          <a:solidFill>
            <a:srgbClr val="0D1640"/>
          </a:solidFill>
          <a:ln w="12700">
            <a:solidFill>
              <a:srgbClr val="0D16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1848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5819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to partner channel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3911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$91K CLTV premium per customer over event channel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679192"/>
            <a:ext cx="11201400" cy="1024128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889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275234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Pro to Enterprise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209544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$283K CLTV uplift per converted customer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849624"/>
            <a:ext cx="11201400" cy="1024128"/>
          </a:xfrm>
          <a:prstGeom prst="rect">
            <a:avLst/>
          </a:prstGeom>
          <a:solidFill>
            <a:srgbClr val="0D1640"/>
          </a:solidFill>
          <a:ln w="12700">
            <a:solidFill>
              <a:srgbClr val="0D1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5935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1732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priority SLAs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379976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is 2.34/5 — directly linked to 104 churn events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020056"/>
            <a:ext cx="11201400" cy="1024128"/>
          </a:xfrm>
          <a:prstGeom prst="rect">
            <a:avLst/>
          </a:prstGeom>
          <a:solidFill>
            <a:srgbClr val="3A4F9B"/>
          </a:solidFill>
          <a:ln w="12700">
            <a:solidFill>
              <a:srgbClr val="3A4F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12978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17320" y="50932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Month 1-2 churn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55040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retention drop in all cohorts — earliest intervention = highest return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2636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above is grounded in the actual data — 5,000 subscription records, 2,000 support tickets, and 600 churn events.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RavenStack  |  Business Recommendations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5992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F28E7B-AC7F-713F-8E8D-F30F5C69F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21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1547</Words>
  <Application>Microsoft Office PowerPoint</Application>
  <PresentationFormat>Widescreen</PresentationFormat>
  <Paragraphs>272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RavenStack Business Recommendations</dc:title>
  <dc:subject>PptxGenJS Presentation</dc:subject>
  <dc:creator>Satya</dc:creator>
  <cp:lastModifiedBy>Satyanarayan Baral</cp:lastModifiedBy>
  <cp:revision>2</cp:revision>
  <dcterms:created xsi:type="dcterms:W3CDTF">2026-07-04T12:44:24Z</dcterms:created>
  <dcterms:modified xsi:type="dcterms:W3CDTF">2026-07-04T12:54:56Z</dcterms:modified>
</cp:coreProperties>
</file>